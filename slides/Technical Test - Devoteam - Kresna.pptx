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Poppins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F46901-634C-4ACC-9843-035AECB7B92D}">
  <a:tblStyle styleId="{F4F46901-634C-4ACC-9843-035AECB7B9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slide" Target="slides/slide19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9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Relationship Id="rId7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863179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Bank Transaction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Fraud Detection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394620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Technical Test AI/ML DEVOTEAM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37620"/>
            <a:ext cx="11049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Kresna Andika Aprianto</a:t>
            </a:r>
            <a:endParaRPr sz="310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813845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467350"/>
            <a:ext cx="11049000" cy="638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" name="Google Shape;95;p14"/>
          <p:cNvGraphicFramePr/>
          <p:nvPr/>
        </p:nvGraphicFramePr>
        <p:xfrm>
          <a:off x="571500" y="184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{F4F46901-634C-4ACC-9843-035AECB7B92D}</a:tableStyleId>
              </a:tblPr>
              <a:tblGrid>
                <a:gridCol w="3537200"/>
                <a:gridCol w="2285250"/>
                <a:gridCol w="5226550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TransactionID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Unique identifier for each record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TransactionAmount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Range: $0.50 - $1,483.89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TransactionDate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datetime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Timestamp of transaction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LoginAttempts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1-5 (Key fraud indicator)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Online / ATM / Branch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AccountBalance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Balance post-transaction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14"/>
          <p:cNvSpPr/>
          <p:nvPr/>
        </p:nvSpPr>
        <p:spPr>
          <a:xfrm>
            <a:off x="571500" y="2309812"/>
            <a:ext cx="35371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108698" y="2309812"/>
            <a:ext cx="2285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393953" y="2309812"/>
            <a:ext cx="5226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65785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Key Statistic: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11.4%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of transactions have multiple login attempts.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2786062"/>
            <a:ext cx="35371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108698" y="2786062"/>
            <a:ext cx="2285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393953" y="2786062"/>
            <a:ext cx="5226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71500" y="3262312"/>
            <a:ext cx="35371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108698" y="3262312"/>
            <a:ext cx="2285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393953" y="3262312"/>
            <a:ext cx="5226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3738562"/>
            <a:ext cx="35371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108698" y="3738562"/>
            <a:ext cx="2285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393953" y="3738562"/>
            <a:ext cx="5226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71500" y="4214812"/>
            <a:ext cx="35371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108698" y="4214812"/>
            <a:ext cx="2285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393953" y="4214812"/>
            <a:ext cx="5226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571500" y="4691062"/>
            <a:ext cx="35371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4108698" y="4691062"/>
            <a:ext cx="2285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393953" y="4691062"/>
            <a:ext cx="5226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571500" y="5167312"/>
            <a:ext cx="35371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4108698" y="5167312"/>
            <a:ext cx="2285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393953" y="5167312"/>
            <a:ext cx="5226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Bank Transaction Dataset Overview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15"/>
          <p:cNvGraphicFramePr/>
          <p:nvPr/>
        </p:nvGraphicFramePr>
        <p:xfrm>
          <a:off x="571500" y="2347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{F4F46901-634C-4ACC-9843-035AECB7B92D}</a:tableStyleId>
              </a:tblPr>
              <a:tblGrid>
                <a:gridCol w="2091925"/>
                <a:gridCol w="1611225"/>
                <a:gridCol w="1583225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Multi-Login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Online Channel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15.2%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Unusual Hours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12.4%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Med-High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5%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15"/>
          <p:cNvSpPr txBox="1"/>
          <p:nvPr/>
        </p:nvSpPr>
        <p:spPr>
          <a:xfrm>
            <a:off x="571500" y="491966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Business Impact: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286 transactions require immediate review; 23 accounts flagged.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2809875"/>
            <a:ext cx="20919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2663428" y="2809875"/>
            <a:ext cx="16112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4274641" y="2809875"/>
            <a:ext cx="1583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71500" y="3286125"/>
            <a:ext cx="20919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2663428" y="3286125"/>
            <a:ext cx="16112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4274641" y="3286125"/>
            <a:ext cx="1583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71500" y="3762375"/>
            <a:ext cx="20919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2663428" y="3762375"/>
            <a:ext cx="16112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274641" y="3762375"/>
            <a:ext cx="1583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71500" y="4238625"/>
            <a:ext cx="20919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663428" y="4238625"/>
            <a:ext cx="16112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4274641" y="4238625"/>
            <a:ext cx="1583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571500" y="4714875"/>
            <a:ext cx="20919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2663428" y="4714875"/>
            <a:ext cx="16112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4274641" y="4714875"/>
            <a:ext cx="1583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Exploratory Data Analysis Highlights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9225" y="1976425"/>
            <a:ext cx="615421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81575"/>
            <a:ext cx="49530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762000" y="1333500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Multi-Factor Risk Analysis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71500" y="1333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571500" y="240982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Interaction Effects: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4105275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Chi-square tests confirm patterns are statistically significant (p &lt; 0.001).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57250" y="29908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52500" y="2990850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Online + Multi-login = </a:t>
            </a:r>
            <a:r>
              <a:rPr b="1" i="0" lang="en-US" sz="135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5x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risk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57250" y="32480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52500" y="3248025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Unusual hour + High amount = </a:t>
            </a:r>
            <a:r>
              <a:rPr b="1" i="0" lang="en-US" sz="135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3x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risk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57250" y="35052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952500" y="3505200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Triple Threat Combined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= </a:t>
            </a:r>
            <a:r>
              <a:rPr b="1" i="0" lang="en-US" sz="135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20x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risk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714375" y="5124450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&lt; 1% transactions hit ALL factors →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Auto-block</a:t>
            </a: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63" name="Google Shape;16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2624" y="2091712"/>
            <a:ext cx="6254423" cy="256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17"/>
          <p:cNvGraphicFramePr/>
          <p:nvPr/>
        </p:nvGraphicFramePr>
        <p:xfrm>
          <a:off x="571500" y="2562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{F4F46901-634C-4ACC-9843-035AECB7B92D}</a:tableStyleId>
              </a:tblPr>
              <a:tblGrid>
                <a:gridCol w="1850825"/>
                <a:gridCol w="1668500"/>
                <a:gridCol w="1767025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 Period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11pm - 5am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3x Higher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Block &gt;$100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6am - 9pm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10pm - 11pm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1.5x Higher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Flag &gt;$500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17"/>
          <p:cNvSpPr txBox="1"/>
          <p:nvPr/>
        </p:nvSpPr>
        <p:spPr>
          <a:xfrm>
            <a:off x="571500" y="47053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Key Insight: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Late-night transactions correlate with higher amounts and multi-login attempts.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3024187"/>
            <a:ext cx="1850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2422326" y="3024187"/>
            <a:ext cx="1668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090838" y="3024187"/>
            <a:ext cx="1767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71500" y="3500437"/>
            <a:ext cx="1850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422326" y="3500437"/>
            <a:ext cx="1668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4090838" y="3500437"/>
            <a:ext cx="1767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71500" y="3976687"/>
            <a:ext cx="1850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422326" y="3976687"/>
            <a:ext cx="1668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4090838" y="3976687"/>
            <a:ext cx="1767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71500" y="4452937"/>
            <a:ext cx="1850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422326" y="4452937"/>
            <a:ext cx="1668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4090838" y="4452937"/>
            <a:ext cx="1767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Fraud Risk Throughout the Day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3800" y="1933886"/>
            <a:ext cx="5857874" cy="316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9337"/>
            <a:ext cx="3492549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19337"/>
            <a:ext cx="3492549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19337"/>
            <a:ext cx="3492549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71500" y="50149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22 Engineered Features: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Multi_Login, Amount_ZScore, Account_IPCount, IsUnusualHour, etc.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66775" y="326231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Isolation Forest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66775" y="3748087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Weight: 30%. Identifies global outliers by isolating features.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645074" y="326231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One-Class SVM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645074" y="3748087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Weight: 30%. Estimates the support of a high-dimensional distribution.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8423374" y="326231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Autoencoder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423374" y="3748087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Weight: 20%. Neural network measuring reconstruction error.</a:t>
            </a:r>
            <a:endParaRPr/>
          </a:p>
        </p:txBody>
      </p:sp>
      <p:pic>
        <p:nvPicPr>
          <p:cNvPr descr="image.png" id="201" name="Google Shape;20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527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527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527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Ensemble Model Architecture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" name="Google Shape;211;p19"/>
          <p:cNvGraphicFramePr/>
          <p:nvPr/>
        </p:nvGraphicFramePr>
        <p:xfrm>
          <a:off x="4460213" y="436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{F4F46901-634C-4ACC-9843-035AECB7B92D}</a:tableStyleId>
              </a:tblPr>
              <a:tblGrid>
                <a:gridCol w="2161400"/>
                <a:gridCol w="1843675"/>
              </a:tblGrid>
              <a:tr h="34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4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Detection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Threshold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95th percentile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False Positive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Training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~45 seconds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19"/>
          <p:cNvSpPr txBox="1"/>
          <p:nvPr/>
        </p:nvSpPr>
        <p:spPr>
          <a:xfrm>
            <a:off x="3819613" y="6272200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Clear separation: Normal (mean 0.12) vs Anomalies (mean 0.78).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571500" y="2938462"/>
            <a:ext cx="2852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3424386" y="2938462"/>
            <a:ext cx="243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71500" y="3414712"/>
            <a:ext cx="2852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3424386" y="3414712"/>
            <a:ext cx="243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71500" y="3890962"/>
            <a:ext cx="2852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3424386" y="3890962"/>
            <a:ext cx="243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71500" y="4367212"/>
            <a:ext cx="2852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3424386" y="4367212"/>
            <a:ext cx="243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571500" y="4843462"/>
            <a:ext cx="2852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3424386" y="4843462"/>
            <a:ext cx="243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762000" y="571500"/>
            <a:ext cx="1140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Performance Results</a:t>
            </a:r>
            <a:endParaRPr sz="1200"/>
          </a:p>
        </p:txBody>
      </p:sp>
      <p:sp>
        <p:nvSpPr>
          <p:cNvPr id="224" name="Google Shape;224;p1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1587" y="956393"/>
            <a:ext cx="9482327" cy="31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20"/>
          <p:cNvGraphicFramePr/>
          <p:nvPr/>
        </p:nvGraphicFramePr>
        <p:xfrm>
          <a:off x="6334125" y="2476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{F4F46901-634C-4ACC-9843-035AECB7B92D}</a:tableStyleId>
              </a:tblPr>
              <a:tblGrid>
                <a:gridCol w="1109800"/>
                <a:gridCol w="2380200"/>
                <a:gridCol w="1796350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Importance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Multi_Login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Amount_ZScore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Account_IPCount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IsUnusualHour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20"/>
          <p:cNvSpPr txBox="1"/>
          <p:nvPr/>
        </p:nvSpPr>
        <p:spPr>
          <a:xfrm>
            <a:off x="6334125" y="504825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Interpretation: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Login behavior is consistently the #1 fraud indicator.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6334125" y="2938462"/>
            <a:ext cx="11098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7443936" y="2938462"/>
            <a:ext cx="2380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824144" y="2938462"/>
            <a:ext cx="17963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334125" y="3414712"/>
            <a:ext cx="11098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7443936" y="3414712"/>
            <a:ext cx="2380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9824144" y="3414712"/>
            <a:ext cx="17963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6334125" y="3890962"/>
            <a:ext cx="11098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7443936" y="3890962"/>
            <a:ext cx="2380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9824144" y="3890962"/>
            <a:ext cx="17963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334125" y="4367212"/>
            <a:ext cx="11098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7443936" y="4367212"/>
            <a:ext cx="2380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9824144" y="4367212"/>
            <a:ext cx="17963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6334125" y="4843462"/>
            <a:ext cx="11098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7443936" y="4843462"/>
            <a:ext cx="2380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9824144" y="4843462"/>
            <a:ext cx="17963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SHAP Analysis - Driver Ranking</a:t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350" y="2189875"/>
            <a:ext cx="5737650" cy="341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6" name="Google Shape;256;p21"/>
          <p:cNvGraphicFramePr/>
          <p:nvPr/>
        </p:nvGraphicFramePr>
        <p:xfrm>
          <a:off x="571500" y="2347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{F4F46901-634C-4ACC-9843-035AECB7B92D}</a:tableStyleId>
              </a:tblPr>
              <a:tblGrid>
                <a:gridCol w="2184350"/>
                <a:gridCol w="1660175"/>
                <a:gridCol w="1441850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Anomalies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Isolation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One-Class SVM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ENSEMBLE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21"/>
          <p:cNvSpPr txBox="1"/>
          <p:nvPr/>
        </p:nvSpPr>
        <p:spPr>
          <a:xfrm>
            <a:off x="571500" y="491966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Benefit: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40% reduction in variance, providing more stable daily predictions.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571500" y="2809875"/>
            <a:ext cx="2184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755850" y="2809875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416028" y="2809875"/>
            <a:ext cx="1441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71500" y="3286125"/>
            <a:ext cx="2184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2755850" y="3286125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416028" y="3286125"/>
            <a:ext cx="1441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571500" y="3762375"/>
            <a:ext cx="2184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2755850" y="3762375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416028" y="3762375"/>
            <a:ext cx="1441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71500" y="4238625"/>
            <a:ext cx="2184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755850" y="4238625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416028" y="4238625"/>
            <a:ext cx="1441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571500" y="4714875"/>
            <a:ext cx="2184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2755850" y="4714875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4416028" y="4714875"/>
            <a:ext cx="1441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Individual Models vs. Ensemble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9399" y="1291478"/>
            <a:ext cx="5783206" cy="48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/>
          <p:nvPr/>
        </p:nvSpPr>
        <p:spPr>
          <a:xfrm>
            <a:off x="5619750" y="76200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295275" y="99060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Model #2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295275" y="1661070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Behavioral Fingerprinting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71500" y="218494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Personalized thresholds based on account-specific normal behavior.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0" name="Google Shape;290;p23"/>
          <p:cNvGraphicFramePr/>
          <p:nvPr/>
        </p:nvGraphicFramePr>
        <p:xfrm>
          <a:off x="6334125" y="2786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{F4F46901-634C-4ACC-9843-035AECB7B92D}</a:tableStyleId>
              </a:tblPr>
              <a:tblGrid>
                <a:gridCol w="1740850"/>
                <a:gridCol w="2300000"/>
                <a:gridCol w="1245550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Pattern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Balanced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Normal behavior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Spiky Amount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High-value transfers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Spiky Velocity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Rapid-fire activity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Spiky Login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Credential stuffing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23"/>
          <p:cNvSpPr/>
          <p:nvPr/>
        </p:nvSpPr>
        <p:spPr>
          <a:xfrm>
            <a:off x="6334125" y="3248025"/>
            <a:ext cx="174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8074967" y="3248025"/>
            <a:ext cx="22999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10374957" y="3248025"/>
            <a:ext cx="1245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6334125" y="3724275"/>
            <a:ext cx="174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8074967" y="3724275"/>
            <a:ext cx="22999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10374957" y="3724275"/>
            <a:ext cx="1245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6334125" y="4200525"/>
            <a:ext cx="174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8074967" y="4200525"/>
            <a:ext cx="22999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10374957" y="4200525"/>
            <a:ext cx="1245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6334125" y="4676775"/>
            <a:ext cx="174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8074967" y="4676775"/>
            <a:ext cx="22999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10374957" y="4676775"/>
            <a:ext cx="1245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6334125" y="5153025"/>
            <a:ext cx="174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8074967" y="5153025"/>
            <a:ext cx="22999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10374957" y="5153025"/>
            <a:ext cx="1245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Behavioral Profile Insights</a:t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784462"/>
            <a:ext cx="5218276" cy="438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571500" y="3367087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3x Higher Risk</a:t>
            </a:r>
            <a:r>
              <a:rPr b="0" i="0" lang="en-US" sz="1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during late night.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217625" y="3938587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Each account is judged against </a:t>
            </a: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its own historical baseline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, reducing false positives for high-net-worth or business users.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Per-Account Temporal Analysis</a:t>
            </a: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451" y="1867050"/>
            <a:ext cx="6758500" cy="383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4" name="Google Shape;324;p25"/>
          <p:cNvGraphicFramePr/>
          <p:nvPr/>
        </p:nvGraphicFramePr>
        <p:xfrm>
          <a:off x="571500" y="2381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{F4F46901-634C-4ACC-9843-035AECB7B92D}</a:tableStyleId>
              </a:tblPr>
              <a:tblGrid>
                <a:gridCol w="2922525"/>
                <a:gridCol w="3974000"/>
                <a:gridCol w="4152450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Aspect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Ensemble (Global)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Behavioral (Fingerprint)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Threshold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Uniform for all users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Personalized</a:t>
                      </a: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per user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False Positives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30-40% lower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Ideal 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New accounts / Cold start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Established account history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Dependency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Single transaction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Historical account sequence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" name="Google Shape;325;p25"/>
          <p:cNvSpPr txBox="1"/>
          <p:nvPr/>
        </p:nvSpPr>
        <p:spPr>
          <a:xfrm>
            <a:off x="571500" y="514350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Recommendation: Implement both models for hybrid coverage.</a:t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571500" y="2843212"/>
            <a:ext cx="292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3494037" y="2843212"/>
            <a:ext cx="3974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7468046" y="2843212"/>
            <a:ext cx="4152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71500" y="3319462"/>
            <a:ext cx="292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3494037" y="3319462"/>
            <a:ext cx="3974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7468046" y="3319462"/>
            <a:ext cx="4152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71500" y="3795712"/>
            <a:ext cx="292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3494037" y="3795712"/>
            <a:ext cx="3974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7468046" y="3795712"/>
            <a:ext cx="4152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571500" y="4271962"/>
            <a:ext cx="292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3494037" y="4271962"/>
            <a:ext cx="3974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7468046" y="4271962"/>
            <a:ext cx="4152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571500" y="4748212"/>
            <a:ext cx="292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3494037" y="4748212"/>
            <a:ext cx="3974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7468046" y="4748212"/>
            <a:ext cx="41524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Global Ensemble vs. Behavioral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6525"/>
            <a:ext cx="3492549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76525"/>
            <a:ext cx="3492549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76525"/>
            <a:ext cx="3492549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 txBox="1"/>
          <p:nvPr/>
        </p:nvSpPr>
        <p:spPr>
          <a:xfrm>
            <a:off x="866775" y="3619500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Async Processing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866775" y="4105275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Avg inference latency: 25ms. Supports high-throughput banking streams.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4645074" y="3619500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Validation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4645074" y="4105275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Pydantic data validation ensures schema integrity for incoming JSON.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8423374" y="3619500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Auto-Docs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8423374" y="4105275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Swagger/OpenAPI integration for seamless developer handoff.</a:t>
            </a:r>
            <a:endParaRPr/>
          </a:p>
        </p:txBody>
      </p:sp>
      <p:pic>
        <p:nvPicPr>
          <p:cNvPr descr="image.png" id="357" name="Google Shape;35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099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30099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30099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FastAPI Production Architecture</a:t>
            </a:r>
            <a:endParaRPr/>
          </a:p>
        </p:txBody>
      </p:sp>
      <p:sp>
        <p:nvSpPr>
          <p:cNvPr id="361" name="Google Shape;361;p2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7"/>
          <p:cNvSpPr txBox="1"/>
          <p:nvPr/>
        </p:nvSpPr>
        <p:spPr>
          <a:xfrm>
            <a:off x="571500" y="2914650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Request Payload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6334125" y="2743200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Response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Production API Integration</a:t>
            </a:r>
            <a:endParaRPr/>
          </a:p>
        </p:txBody>
      </p:sp>
      <p:sp>
        <p:nvSpPr>
          <p:cNvPr id="370" name="Google Shape;370;p2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67250"/>
            <a:ext cx="33147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8650" y="4667250"/>
            <a:ext cx="33147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5800" y="4667250"/>
            <a:ext cx="3314700" cy="1285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9" name="Google Shape;379;p28"/>
          <p:cNvGraphicFramePr/>
          <p:nvPr/>
        </p:nvGraphicFramePr>
        <p:xfrm>
          <a:off x="571500" y="2000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{F4F46901-634C-4ACC-9843-035AECB7B92D}</a:tableStyleId>
              </a:tblPr>
              <a:tblGrid>
                <a:gridCol w="6580275"/>
                <a:gridCol w="4468725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Improvement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Fraud Detection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+15-20%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False Positive 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30-40%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Annual Projected Savings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$150K - $250K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0" name="Google Shape;380;p28"/>
          <p:cNvSpPr/>
          <p:nvPr/>
        </p:nvSpPr>
        <p:spPr>
          <a:xfrm>
            <a:off x="571500" y="2462212"/>
            <a:ext cx="65802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7151786" y="2462212"/>
            <a:ext cx="4468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571500" y="531018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571500" y="2938462"/>
            <a:ext cx="65802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7151786" y="2938462"/>
            <a:ext cx="4468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571500" y="3414712"/>
            <a:ext cx="65802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7151786" y="3414712"/>
            <a:ext cx="4468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571500" y="3890962"/>
            <a:ext cx="65802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7151786" y="3890962"/>
            <a:ext cx="4468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698658" y="4867275"/>
            <a:ext cx="306038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Week 1</a:t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771525" y="5324475"/>
            <a:ext cx="2914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Ensemble Model</a:t>
            </a:r>
            <a:endParaRPr/>
          </a:p>
        </p:txBody>
      </p:sp>
      <p:sp>
        <p:nvSpPr>
          <p:cNvPr id="391" name="Google Shape;391;p28"/>
          <p:cNvSpPr txBox="1"/>
          <p:nvPr/>
        </p:nvSpPr>
        <p:spPr>
          <a:xfrm>
            <a:off x="4565808" y="4867275"/>
            <a:ext cx="306038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Month 1</a:t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4638675" y="5324475"/>
            <a:ext cx="2914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Behavioral Profiles</a:t>
            </a:r>
            <a:endParaRPr/>
          </a:p>
        </p:txBody>
      </p:sp>
      <p:sp>
        <p:nvSpPr>
          <p:cNvPr id="393" name="Google Shape;393;p28"/>
          <p:cNvSpPr txBox="1"/>
          <p:nvPr/>
        </p:nvSpPr>
        <p:spPr>
          <a:xfrm>
            <a:off x="8432958" y="4867275"/>
            <a:ext cx="306038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Quarter 1</a:t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8505825" y="5324475"/>
            <a:ext cx="2914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Full A/B Testing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Expected Business Impact &amp; ROI</a:t>
            </a:r>
            <a:endParaRPr/>
          </a:p>
        </p:txBody>
      </p:sp>
      <p:sp>
        <p:nvSpPr>
          <p:cNvPr id="396" name="Google Shape;396;p2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2171700" y="5253037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6038850" y="5253037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9906000" y="5253037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9"/>
          <p:cNvSpPr txBox="1"/>
          <p:nvPr/>
        </p:nvSpPr>
        <p:spPr>
          <a:xfrm>
            <a:off x="904875" y="2928937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Auto-Block:</a:t>
            </a: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Implement mandatory blocking for transactions with 4+ login attempts.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904875" y="3405187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Adaptive 2FA:</a:t>
            </a: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Require multi-factor auth for Online &gt; $500 or unusual hours.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904875" y="3881437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Priority Review:</a:t>
            </a: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Funnel top 20 high-risk accounts to specialized audit teams.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904875" y="4357687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Feedback Loop:</a:t>
            </a: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Integrate confirmed fraud labels back into model training monthly.</a:t>
            </a:r>
            <a:endParaRPr/>
          </a:p>
        </p:txBody>
      </p:sp>
      <p:pic>
        <p:nvPicPr>
          <p:cNvPr descr="image.png" id="409" name="Google Shape;40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1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480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4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005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Recommendations</a:t>
            </a:r>
            <a:endParaRPr/>
          </a:p>
        </p:txBody>
      </p:sp>
      <p:sp>
        <p:nvSpPr>
          <p:cNvPr id="414" name="Google Shape;414;p2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9" name="Google Shape;4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6525"/>
            <a:ext cx="3492549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76525"/>
            <a:ext cx="3492549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76525"/>
            <a:ext cx="3492549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 txBox="1"/>
          <p:nvPr/>
        </p:nvSpPr>
        <p:spPr>
          <a:xfrm>
            <a:off x="866775" y="3619500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Predictive</a:t>
            </a:r>
            <a:endParaRPr/>
          </a:p>
        </p:txBody>
      </p:sp>
      <p:sp>
        <p:nvSpPr>
          <p:cNvPr id="424" name="Google Shape;424;p30"/>
          <p:cNvSpPr txBox="1"/>
          <p:nvPr/>
        </p:nvSpPr>
        <p:spPr>
          <a:xfrm>
            <a:off x="866775" y="4105275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Multi-factor combinations are 20x more predictive than single features.</a:t>
            </a:r>
            <a:endParaRPr/>
          </a:p>
        </p:txBody>
      </p:sp>
      <p:sp>
        <p:nvSpPr>
          <p:cNvPr id="425" name="Google Shape;425;p30"/>
          <p:cNvSpPr txBox="1"/>
          <p:nvPr/>
        </p:nvSpPr>
        <p:spPr>
          <a:xfrm>
            <a:off x="4645074" y="3619500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Stable</a:t>
            </a:r>
            <a:endParaRPr/>
          </a:p>
        </p:txBody>
      </p:sp>
      <p:sp>
        <p:nvSpPr>
          <p:cNvPr id="426" name="Google Shape;426;p30"/>
          <p:cNvSpPr txBox="1"/>
          <p:nvPr/>
        </p:nvSpPr>
        <p:spPr>
          <a:xfrm>
            <a:off x="4645074" y="4105275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Ensemble approach reduces variance by 40% vs individual algorithms.</a:t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8423374" y="3619500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Fair</a:t>
            </a:r>
            <a:endParaRPr/>
          </a:p>
        </p:txBody>
      </p:sp>
      <p:sp>
        <p:nvSpPr>
          <p:cNvPr id="428" name="Google Shape;428;p30"/>
          <p:cNvSpPr txBox="1"/>
          <p:nvPr/>
        </p:nvSpPr>
        <p:spPr>
          <a:xfrm>
            <a:off x="8423374" y="4105275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Behavioral thresholds provide 30% reduction in false positives.</a:t>
            </a:r>
            <a:endParaRPr/>
          </a:p>
        </p:txBody>
      </p:sp>
      <p:pic>
        <p:nvPicPr>
          <p:cNvPr descr="image.png" id="429" name="Google Shape;42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099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30099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30099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Project Summary</a:t>
            </a:r>
            <a:endParaRPr/>
          </a:p>
        </p:txBody>
      </p:sp>
      <p:sp>
        <p:nvSpPr>
          <p:cNvPr id="433" name="Google Shape;433;p3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"/>
          <p:cNvSpPr txBox="1"/>
          <p:nvPr/>
        </p:nvSpPr>
        <p:spPr>
          <a:xfrm>
            <a:off x="295275" y="139065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571500" y="241935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